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0" d="100"/>
          <a:sy n="30" d="100"/>
        </p:scale>
        <p:origin x="756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ED0CF-11FE-421B-8392-B81DD5EEC1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F490F-CB71-4C87-A1E0-BEECDFA7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1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F490F-CB71-4C87-A1E0-BEECDFA728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78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3840480"/>
          </a:xfrm>
          <a:prstGeom prst="rect">
            <a:avLst/>
          </a:prstGeom>
          <a:solidFill>
            <a:srgbClr val="12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891200" cy="164592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457200"/>
            <a:ext cx="3063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Calibri"/>
              </a:rPr>
              <a:t>Poster Title Goes Here: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423160"/>
            <a:ext cx="3063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 dirty="0">
                <a:solidFill>
                  <a:srgbClr val="E2E8F0"/>
                </a:solidFill>
                <a:latin typeface="Calibri"/>
              </a:rPr>
              <a:t>Author One  ·  Author Two  ·  Sandeep K. Singh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090672"/>
            <a:ext cx="3063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9DB4D4"/>
                </a:solidFill>
                <a:latin typeface="Calibri"/>
              </a:rPr>
              <a:t>¹Advanced Space Concepts Laboratory, Dept. of MANE, Rensselaer Polytechnic Institute, Troy, NY  ·  asclabrpi.com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87952"/>
            <a:ext cx="14112239" cy="6309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" y="4389120"/>
            <a:ext cx="13709903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453128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074920"/>
            <a:ext cx="1370990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1B3A6B"/>
                </a:solidFill>
                <a:latin typeface="Calibri"/>
              </a:rPr>
              <a:t>Motivation.  </a:t>
            </a:r>
          </a:p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Provide 2-3 sentences on the operational or scientific context. Why does this problem matter now?
</a:t>
            </a:r>
          </a:p>
          <a:p>
            <a:r>
              <a:rPr sz="2200" b="1" i="0" dirty="0">
                <a:solidFill>
                  <a:srgbClr val="1B3A6B"/>
                </a:solidFill>
                <a:latin typeface="Calibri"/>
              </a:rPr>
              <a:t>Problem Statement.  </a:t>
            </a:r>
          </a:p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State clearly what gap or question this work addresses.
</a:t>
            </a:r>
          </a:p>
          <a:p>
            <a:r>
              <a:rPr sz="2200" b="0" i="1" dirty="0">
                <a:solidFill>
                  <a:srgbClr val="64748B"/>
                </a:solidFill>
                <a:latin typeface="Calibri"/>
              </a:rPr>
              <a:t>Prior approaches are limited by [X], [Y], or [Z]. This work addresses those gaps through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0844784"/>
            <a:ext cx="14112239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  <a:p>
            <a:pPr algn="ctr"/>
            <a:endParaRPr sz="2200" dirty="0"/>
          </a:p>
        </p:txBody>
      </p:sp>
      <p:sp>
        <p:nvSpPr>
          <p:cNvPr id="17" name="Rectangle 16"/>
          <p:cNvSpPr/>
          <p:nvPr/>
        </p:nvSpPr>
        <p:spPr>
          <a:xfrm>
            <a:off x="704088" y="11045952"/>
            <a:ext cx="13709903" cy="50292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11109960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11823192"/>
            <a:ext cx="347472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11823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11795760"/>
            <a:ext cx="13234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E293B"/>
                </a:solidFill>
                <a:latin typeface="Calibri"/>
              </a:rPr>
              <a:t>Develop [method / framework / algorithm] for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13085064"/>
            <a:ext cx="347472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13085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13057632"/>
            <a:ext cx="13234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Validate against [benchmark / Monte Carlo / hardware] under 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" y="14346936"/>
            <a:ext cx="347472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14346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" y="14319504"/>
            <a:ext cx="13234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E293B"/>
                </a:solidFill>
                <a:latin typeface="Calibri"/>
              </a:rPr>
              <a:t>Quantify performance in terms of [metric] relative to [baseline].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6130016"/>
            <a:ext cx="14112239" cy="1558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4088" y="16331184"/>
            <a:ext cx="13709903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16395192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MISSION / PROBLEM GEOMETRY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" y="17016984"/>
            <a:ext cx="13709903" cy="14136624"/>
          </a:xfrm>
          <a:prstGeom prst="rect">
            <a:avLst/>
          </a:prstGeom>
          <a:solidFill>
            <a:srgbClr val="F2F5F9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" y="22671633"/>
            <a:ext cx="137099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64748B"/>
                </a:solidFill>
                <a:latin typeface="Calibri"/>
              </a:rPr>
              <a:t>[Insert Figure Here]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31217616"/>
            <a:ext cx="137099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>
                <a:solidFill>
                  <a:srgbClr val="64748B"/>
                </a:solidFill>
                <a:latin typeface="Calibri"/>
              </a:rPr>
              <a:t>Fig. 1  -  [Caption describing geometry or scenario]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889479" y="4187952"/>
            <a:ext cx="14112239" cy="8595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5090647" y="4389120"/>
            <a:ext cx="13709903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227807" y="4453128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145512" y="5074920"/>
            <a:ext cx="3208019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145512" y="5074920"/>
            <a:ext cx="32080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Dynamics
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353532" y="5449824"/>
            <a:ext cx="347472" cy="18288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8701003" y="5074920"/>
            <a:ext cx="3208019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701003" y="5074920"/>
            <a:ext cx="32080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Sensor /
Measurement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09023" y="5449824"/>
            <a:ext cx="347472" cy="18288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256495" y="5074920"/>
            <a:ext cx="3208019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2256495" y="5074920"/>
            <a:ext cx="32080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Estimation /
Optimization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64515" y="5449824"/>
            <a:ext cx="347472" cy="18288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5811989" y="5074920"/>
            <a:ext cx="2860548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7" name="TextBox 46"/>
          <p:cNvSpPr txBox="1"/>
          <p:nvPr/>
        </p:nvSpPr>
        <p:spPr>
          <a:xfrm>
            <a:off x="25811989" y="5074920"/>
            <a:ext cx="2860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Performance
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90647" y="6217920"/>
            <a:ext cx="137099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dirty="0">
                <a:solidFill>
                  <a:srgbClr val="1E293B"/>
                </a:solidFill>
                <a:latin typeface="Calibri"/>
              </a:rPr>
              <a:t>Text Here</a:t>
            </a:r>
            <a:endParaRPr sz="22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4889479" y="13130784"/>
            <a:ext cx="14112239" cy="18580607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5090647" y="13331952"/>
            <a:ext cx="13709903" cy="50292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5227807" y="13395960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127224" y="14017752"/>
            <a:ext cx="6653784" cy="15105887"/>
          </a:xfrm>
          <a:prstGeom prst="rect">
            <a:avLst/>
          </a:prstGeom>
          <a:solidFill>
            <a:srgbClr val="F2F5F9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5127224" y="20060107"/>
            <a:ext cx="6653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>
                <a:solidFill>
                  <a:srgbClr val="64748B"/>
                </a:solidFill>
                <a:latin typeface="Calibri"/>
              </a:rPr>
              <a:t>[Insert Figure Here]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127224" y="29187648"/>
            <a:ext cx="6653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64748B"/>
                </a:solidFill>
                <a:latin typeface="Calibri"/>
              </a:rPr>
              <a:t>Fig. 2 - [Caption]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018752" y="14017752"/>
            <a:ext cx="6653784" cy="15105887"/>
          </a:xfrm>
          <a:prstGeom prst="rect">
            <a:avLst/>
          </a:prstGeom>
          <a:solidFill>
            <a:srgbClr val="F2F5F9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2018752" y="20060107"/>
            <a:ext cx="6653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64748B"/>
                </a:solidFill>
                <a:latin typeface="Calibri"/>
              </a:rPr>
              <a:t>[Insert Figure Here]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018752" y="29187648"/>
            <a:ext cx="6653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64748B"/>
                </a:solidFill>
                <a:latin typeface="Calibri"/>
              </a:rPr>
              <a:t>Fig. 3 - [Caption]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003780" y="30291399"/>
            <a:ext cx="13709903" cy="1097280"/>
          </a:xfrm>
          <a:prstGeom prst="rect">
            <a:avLst/>
          </a:prstGeom>
          <a:solidFill>
            <a:srgbClr val="12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5104363" y="30488206"/>
            <a:ext cx="135087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D6001C"/>
                </a:solidFill>
                <a:latin typeface="Calibri"/>
              </a:rPr>
              <a:t>Key Result:  </a:t>
            </a:r>
          </a:p>
          <a:p>
            <a:r>
              <a:rPr sz="2000" b="0" i="0" dirty="0">
                <a:solidFill>
                  <a:srgbClr val="FFFFFF"/>
                </a:solidFill>
                <a:latin typeface="Calibri"/>
              </a:rPr>
              <a:t>State your most important quantitative finding in one or two sentences.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76040" y="4187952"/>
            <a:ext cx="14112239" cy="6949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9477207" y="4389120"/>
            <a:ext cx="13709903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3" name="TextBox 62"/>
          <p:cNvSpPr txBox="1"/>
          <p:nvPr/>
        </p:nvSpPr>
        <p:spPr>
          <a:xfrm>
            <a:off x="29614367" y="4453128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77207" y="5074920"/>
            <a:ext cx="1370990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1B3A6B"/>
                </a:solidFill>
                <a:latin typeface="Calibri"/>
              </a:rPr>
              <a:t>Interpretation.  </a:t>
            </a:r>
          </a:p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Explain what the results mean physically or operationally. Connect findings back to the objectives.
</a:t>
            </a:r>
          </a:p>
          <a:p>
            <a:r>
              <a:rPr sz="2200" b="1" i="0" dirty="0">
                <a:solidFill>
                  <a:srgbClr val="1B3A6B"/>
                </a:solidFill>
                <a:latin typeface="Calibri"/>
              </a:rPr>
              <a:t>Limitations.  </a:t>
            </a:r>
          </a:p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Acknowledge model assumptions, scenarios not tested, or data limitations.
</a:t>
            </a:r>
          </a:p>
          <a:p>
            <a:r>
              <a:rPr sz="2200" b="1" i="0" dirty="0">
                <a:solidFill>
                  <a:srgbClr val="1B3A6B"/>
                </a:solidFill>
                <a:latin typeface="Calibri"/>
              </a:rPr>
              <a:t>Comparison to Prior Work.  </a:t>
            </a:r>
          </a:p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Quantify improvement or difference relative to existing approaches.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76040" y="11484863"/>
            <a:ext cx="14112239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9477207" y="11686032"/>
            <a:ext cx="13709903" cy="50292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9614367" y="11750040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477207" y="12371832"/>
            <a:ext cx="1370990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D6001C"/>
                </a:solidFill>
                <a:latin typeface="Calibri"/>
              </a:rPr>
              <a:t>✓  </a:t>
            </a:r>
          </a:p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We developed / proposed / demonstrated ...
</a:t>
            </a:r>
          </a:p>
          <a:p>
            <a:r>
              <a:rPr sz="2200" b="1" i="0" dirty="0">
                <a:solidFill>
                  <a:srgbClr val="D6001C"/>
                </a:solidFill>
                <a:latin typeface="Calibri"/>
              </a:rPr>
              <a:t>✓  </a:t>
            </a:r>
          </a:p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Method achieved [metric] under [conditions].
</a:t>
            </a:r>
          </a:p>
          <a:p>
            <a:r>
              <a:rPr sz="2200" b="1" i="0" dirty="0">
                <a:solidFill>
                  <a:srgbClr val="1B3A6B"/>
                </a:solidFill>
                <a:latin typeface="Calibri"/>
              </a:rPr>
              <a:t>Future Work:  </a:t>
            </a:r>
          </a:p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Extend to higher-fidelity ephemeris model; hardware-in-the-loop validation; integration with [sensor / platform].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76040" y="16770096"/>
            <a:ext cx="14112239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477207" y="16971264"/>
            <a:ext cx="13709903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614367" y="17035272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477207" y="17657064"/>
            <a:ext cx="137099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[1]  Author(s), Title. Journal/Conf., vol. X, pp. XX-XX, Year.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477207" y="18480023"/>
            <a:ext cx="137099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[2]  Author(s), Title. Journal/Conf., vol. X, pp. XX-XX, Year.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477207" y="19302984"/>
            <a:ext cx="137099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[3]  Author(s), Title. Journal/Conf., vol. X, pp. XX-XX, Year.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77207" y="20125944"/>
            <a:ext cx="137099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[4]  Author(s), Title. Journal/Conf., vol. X, pp. XX-XX, Year.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276040" y="21689568"/>
            <a:ext cx="14112239" cy="10021823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29477207" y="21890735"/>
            <a:ext cx="13709903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9614367" y="21954744"/>
            <a:ext cx="1350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ACKNOWLEDGMENTS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477207" y="22576535"/>
            <a:ext cx="137099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 dirty="0">
                <a:solidFill>
                  <a:srgbClr val="1E293B"/>
                </a:solidFill>
                <a:latin typeface="Calibri"/>
              </a:rPr>
              <a:t>This work was supported by the Air Force Office of Scientific Research (AFOSR) under the RCAT-CS program. </a:t>
            </a:r>
          </a:p>
          <a:p>
            <a:r>
              <a:rPr sz="2200" b="0" i="1" dirty="0">
                <a:solidFill>
                  <a:srgbClr val="64748B"/>
                </a:solidFill>
                <a:latin typeface="Calibri"/>
              </a:rPr>
              <a:t>Update or add additional funding sources, collaborators, or data providers as appropriate.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31912560"/>
            <a:ext cx="43891200" cy="1005840"/>
          </a:xfrm>
          <a:prstGeom prst="rect">
            <a:avLst/>
          </a:prstGeom>
          <a:solidFill>
            <a:srgbClr val="12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0" y="32790384"/>
            <a:ext cx="43891200" cy="128016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04088" y="32141159"/>
            <a:ext cx="3017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E2E8F0"/>
                </a:solidFill>
                <a:latin typeface="Calibri"/>
              </a:rPr>
              <a:t>Advanced Space Concepts Laboratory (ASCLab)  ·  Dept. of MANE, Rensselaer Polytechnic Institute, Troy, NY 12180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00" y="32113727"/>
            <a:ext cx="1600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 i="0" dirty="0">
                <a:solidFill>
                  <a:srgbClr val="E2E8F0"/>
                </a:solidFill>
                <a:latin typeface="Calibri"/>
              </a:rPr>
              <a:t>[Conference Name  ·  Location  ·  Month Year]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7A159C01-A6A8-1124-5EE1-21DA8789B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2734" y="28201402"/>
            <a:ext cx="3230368" cy="323036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3652125-4F59-FCB7-6CDD-B15E52BB0FA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3421" t="17862" r="13959" b="14784"/>
          <a:stretch>
            <a:fillRect/>
          </a:stretch>
        </p:blipFill>
        <p:spPr>
          <a:xfrm>
            <a:off x="241662" y="-25594"/>
            <a:ext cx="4417321" cy="4061634"/>
          </a:xfrm>
          <a:prstGeom prst="flowChartConnector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3068DD4D-14B0-DF65-DAE6-78EF12228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23256" y="812335"/>
            <a:ext cx="3941063" cy="2380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461</Words>
  <Application>Microsoft Office PowerPoint</Application>
  <PresentationFormat>Custom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sandeep singh</dc:creator>
  <cp:keywords/>
  <dc:description>generated using python-pptx</dc:description>
  <cp:lastModifiedBy>sandeep singh</cp:lastModifiedBy>
  <cp:revision>4</cp:revision>
  <dcterms:created xsi:type="dcterms:W3CDTF">2013-01-27T09:14:16Z</dcterms:created>
  <dcterms:modified xsi:type="dcterms:W3CDTF">2026-05-18T15:56:34Z</dcterms:modified>
  <cp:category/>
</cp:coreProperties>
</file>